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D4B26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2E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B2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Deluxe</c:v>
                  </c:pt>
                  <c:pt idx="1">
                    <c:v>Suite</c:v>
                  </c:pt>
                  <c:pt idx="2">
                    <c:v>Single</c:v>
                  </c:pt>
                  <c:pt idx="3">
                    <c:v>Twin</c:v>
                  </c:pt>
                  <c:pt idx="4">
                    <c:v>Double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45.4</c:v>
                </c:pt>
                <c:pt idx="1">
                  <c:v>41.2</c:v>
                </c:pt>
                <c:pt idx="2">
                  <c:v>37.9</c:v>
                </c:pt>
                <c:pt idx="3">
                  <c:v>36.6</c:v>
                </c:pt>
                <c:pt idx="4">
                  <c:v>31.1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5F2EA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6BC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D4B26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2E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B2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Travel Agent</c:v>
                  </c:pt>
                  <c:pt idx="1">
                    <c:v>Expedia</c:v>
                  </c:pt>
                  <c:pt idx="2">
                    <c:v>Website</c:v>
                  </c:pt>
                  <c:pt idx="3">
                    <c:v>Phone</c:v>
                  </c:pt>
                  <c:pt idx="4">
                    <c:v>Booking.com</c:v>
                  </c:pt>
                  <c:pt idx="5">
                    <c:v>Walk-in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21.4</c:v>
                </c:pt>
                <c:pt idx="1">
                  <c:v>20.8</c:v>
                </c:pt>
                <c:pt idx="2">
                  <c:v>20.1</c:v>
                </c:pt>
                <c:pt idx="3">
                  <c:v>19.9</c:v>
                </c:pt>
                <c:pt idx="4">
                  <c:v>19.6</c:v>
                </c:pt>
                <c:pt idx="5">
                  <c:v>19.6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5F2EA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6BC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5B71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2EA"/>
                    </a:solidFill>
                    <a:latin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B2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5B7197"/>
              </a:solidFill>
              <a:effectLst/>
            </c:spPr>
          </c:dPt>
          <c:cat>
            <c:multiLvlStrRef>
              <c:f>Sheet1!$A$2:$A$38</c:f>
              <c:multiLvlStrCache>
                <c:ptCount val="37"/>
                <c:lvl>
                  <c:pt idx="0">
                    <c:v>Sep 23</c:v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Mar 24</c:v>
                  </c:pt>
                  <c:pt idx="7">
                    <c:v> </c:v>
                  </c:pt>
                  <c:pt idx="8">
                    <c:v>  </c:v>
                  </c:pt>
                  <c:pt idx="9">
                    <c:v>   </c:v>
                  </c:pt>
                  <c:pt idx="10">
                    <c:v>    </c:v>
                  </c:pt>
                  <c:pt idx="11">
                    <c:v>     </c:v>
                  </c:pt>
                  <c:pt idx="12">
                    <c:v>Sep 24</c:v>
                  </c:pt>
                  <c:pt idx="13">
                    <c:v> </c:v>
                  </c:pt>
                  <c:pt idx="14">
                    <c:v>  </c:v>
                  </c:pt>
                  <c:pt idx="15">
                    <c:v>   </c:v>
                  </c:pt>
                  <c:pt idx="16">
                    <c:v>    </c:v>
                  </c:pt>
                  <c:pt idx="17">
                    <c:v>     </c:v>
                  </c:pt>
                  <c:pt idx="18">
                    <c:v>Mar 25</c:v>
                  </c:pt>
                  <c:pt idx="19">
                    <c:v> </c:v>
                  </c:pt>
                  <c:pt idx="20">
                    <c:v>  </c:v>
                  </c:pt>
                  <c:pt idx="21">
                    <c:v>   </c:v>
                  </c:pt>
                  <c:pt idx="22">
                    <c:v>    </c:v>
                  </c:pt>
                  <c:pt idx="23">
                    <c:v>     </c:v>
                  </c:pt>
                  <c:pt idx="24">
                    <c:v>Sep 25</c:v>
                  </c:pt>
                  <c:pt idx="25">
                    <c:v> </c:v>
                  </c:pt>
                  <c:pt idx="26">
                    <c:v>  </c:v>
                  </c:pt>
                  <c:pt idx="27">
                    <c:v>   </c:v>
                  </c:pt>
                  <c:pt idx="28">
                    <c:v>    </c:v>
                  </c:pt>
                  <c:pt idx="29">
                    <c:v>     </c:v>
                  </c:pt>
                  <c:pt idx="30">
                    <c:v>Mar 26</c:v>
                  </c:pt>
                  <c:pt idx="31">
                    <c:v> </c:v>
                  </c:pt>
                  <c:pt idx="32">
                    <c:v>  </c:v>
                  </c:pt>
                  <c:pt idx="33">
                    <c:v>   </c:v>
                  </c:pt>
                  <c:pt idx="34">
                    <c:v>    </c:v>
                  </c:pt>
                  <c:pt idx="35">
                    <c:v>     </c:v>
                  </c:pt>
                  <c:pt idx="36">
                    <c:v>Sep 26</c:v>
                  </c:pt>
                </c:lvl>
              </c:multiLvlStrCache>
            </c:multiLvl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16.34</c:v>
                </c:pt>
                <c:pt idx="1">
                  <c:v>19.68</c:v>
                </c:pt>
                <c:pt idx="2">
                  <c:v>15.08</c:v>
                </c:pt>
                <c:pt idx="3">
                  <c:v>12.98</c:v>
                </c:pt>
                <c:pt idx="4">
                  <c:v>12.26</c:v>
                </c:pt>
                <c:pt idx="5">
                  <c:v>10.67</c:v>
                </c:pt>
                <c:pt idx="6">
                  <c:v>9.46</c:v>
                </c:pt>
                <c:pt idx="7">
                  <c:v>8.6</c:v>
                </c:pt>
                <c:pt idx="8">
                  <c:v>7.9</c:v>
                </c:pt>
                <c:pt idx="9">
                  <c:v>6.88</c:v>
                </c:pt>
                <c:pt idx="10">
                  <c:v>6.99</c:v>
                </c:pt>
                <c:pt idx="11">
                  <c:v>6.58</c:v>
                </c:pt>
                <c:pt idx="12">
                  <c:v>5.34</c:v>
                </c:pt>
                <c:pt idx="13">
                  <c:v>5.81</c:v>
                </c:pt>
                <c:pt idx="14">
                  <c:v>4.76</c:v>
                </c:pt>
                <c:pt idx="15">
                  <c:v>4.53</c:v>
                </c:pt>
                <c:pt idx="16">
                  <c:v>4.48</c:v>
                </c:pt>
                <c:pt idx="17">
                  <c:v>3.61</c:v>
                </c:pt>
                <c:pt idx="18">
                  <c:v>3.49</c:v>
                </c:pt>
                <c:pt idx="19">
                  <c:v>3.37</c:v>
                </c:pt>
                <c:pt idx="20">
                  <c:v>2.89</c:v>
                </c:pt>
                <c:pt idx="21">
                  <c:v>2.99</c:v>
                </c:pt>
                <c:pt idx="22">
                  <c:v>2.49</c:v>
                </c:pt>
                <c:pt idx="23">
                  <c:v>2.35</c:v>
                </c:pt>
                <c:pt idx="24">
                  <c:v>1.72</c:v>
                </c:pt>
                <c:pt idx="25">
                  <c:v>1.78</c:v>
                </c:pt>
                <c:pt idx="26">
                  <c:v>1.52</c:v>
                </c:pt>
                <c:pt idx="27">
                  <c:v>1.62</c:v>
                </c:pt>
                <c:pt idx="28">
                  <c:v>1.41</c:v>
                </c:pt>
                <c:pt idx="29">
                  <c:v>1.25</c:v>
                </c:pt>
                <c:pt idx="30">
                  <c:v>0.97</c:v>
                </c:pt>
                <c:pt idx="31">
                  <c:v>0.67</c:v>
                </c:pt>
                <c:pt idx="32">
                  <c:v>0.8</c:v>
                </c:pt>
                <c:pt idx="33">
                  <c:v>0.54</c:v>
                </c:pt>
                <c:pt idx="34">
                  <c:v>0.32</c:v>
                </c:pt>
                <c:pt idx="35">
                  <c:v>0.09</c:v>
                </c:pt>
                <c:pt idx="3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5F2EA"/>
                  </a:solidFill>
                  <a:latin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6BC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ANALYTICS  |  MOHAMED FATHY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o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520" y="1417320"/>
            <a:ext cx="822960" cy="0"/>
          </a:xfrm>
          <a:prstGeom prst="line">
            <a:avLst/>
          </a:prstGeom>
          <a:noFill/>
          <a:ln w="25400">
            <a:solidFill>
              <a:srgbClr val="D4B26A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73152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011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Analytics</a:t>
            </a:r>
            <a:endParaRPr lang="en-US" sz="7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291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Bookings, Guests &amp; Revenue: From Database to Interactive Dashboard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" y="47091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1888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47091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2240280" y="47091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81888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697480" y="4709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160520" y="47091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81888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617720" y="47091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669280" y="47091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48188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126480" y="4709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73152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Mohamed Fathy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9235440" y="5468112"/>
            <a:ext cx="201168" cy="658368"/>
          </a:xfrm>
          <a:prstGeom prst="rect">
            <a:avLst/>
          </a:prstGeom>
          <a:solidFill>
            <a:srgbClr val="D4B26A">
              <a:alpha val="40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9582912" y="5102352"/>
            <a:ext cx="201168" cy="1024128"/>
          </a:xfrm>
          <a:prstGeom prst="rect">
            <a:avLst/>
          </a:prstGeom>
          <a:solidFill>
            <a:srgbClr val="D4B26A">
              <a:alpha val="40000"/>
            </a:srgbClr>
          </a:solidFill>
          <a:ln/>
        </p:spPr>
      </p:sp>
      <p:sp>
        <p:nvSpPr>
          <p:cNvPr id="23" name="Shape 15"/>
          <p:cNvSpPr/>
          <p:nvPr/>
        </p:nvSpPr>
        <p:spPr>
          <a:xfrm>
            <a:off x="9930384" y="5321808"/>
            <a:ext cx="201168" cy="804672"/>
          </a:xfrm>
          <a:prstGeom prst="rect">
            <a:avLst/>
          </a:prstGeom>
          <a:solidFill>
            <a:srgbClr val="D4B26A">
              <a:alpha val="40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10277856" y="4736592"/>
            <a:ext cx="201168" cy="1389888"/>
          </a:xfrm>
          <a:prstGeom prst="rect">
            <a:avLst/>
          </a:prstGeom>
          <a:solidFill>
            <a:srgbClr val="D4B26A">
              <a:alpha val="40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10625328" y="4956048"/>
            <a:ext cx="201168" cy="1170432"/>
          </a:xfrm>
          <a:prstGeom prst="rect">
            <a:avLst/>
          </a:prstGeom>
          <a:solidFill>
            <a:srgbClr val="D4B26A">
              <a:alpha val="40000"/>
            </a:srgbClr>
          </a:solidFill>
          <a:ln/>
        </p:spPr>
      </p:sp>
      <p:sp>
        <p:nvSpPr>
          <p:cNvPr id="26" name="Shape 18"/>
          <p:cNvSpPr/>
          <p:nvPr/>
        </p:nvSpPr>
        <p:spPr>
          <a:xfrm>
            <a:off x="10972800" y="4370832"/>
            <a:ext cx="201168" cy="1755648"/>
          </a:xfrm>
          <a:prstGeom prst="rect">
            <a:avLst/>
          </a:prstGeom>
          <a:solidFill>
            <a:srgbClr val="D4B26A">
              <a:alpha val="40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11320272" y="4005072"/>
            <a:ext cx="201168" cy="2121408"/>
          </a:xfrm>
          <a:prstGeom prst="rect">
            <a:avLst/>
          </a:prstGeom>
          <a:solidFill>
            <a:srgbClr val="D4B26A">
              <a:alpha val="9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understand hotel performance and find decisions that raise revenue and cut cancellations.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745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8745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9944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34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997696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D4B26A">
              <a:alpha val="14000"/>
            </a:srgbClr>
          </a:solidFill>
          <a:ln w="9525">
            <a:solidFill>
              <a:srgbClr val="D4B26A">
                <a:alpha val="7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18745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26296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192.2M</a:t>
            </a:r>
            <a:endParaRPr lang="en-US" sz="3800" dirty="0"/>
          </a:p>
        </p:txBody>
      </p:sp>
      <p:sp>
        <p:nvSpPr>
          <p:cNvPr id="21" name="Text 15"/>
          <p:cNvSpPr txBox="1"/>
          <p:nvPr/>
        </p:nvSpPr>
        <p:spPr>
          <a:xfrm>
            <a:off x="9226296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772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MODEL: STAR SCHEMA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331720" y="4123944"/>
            <a:ext cx="182880" cy="0"/>
          </a:xfrm>
          <a:prstGeom prst="line">
            <a:avLst/>
          </a:prstGeom>
          <a:noFill/>
          <a:ln w="12700">
            <a:solidFill>
              <a:srgbClr val="9AA6BC">
                <a:alpha val="7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069080" y="4123944"/>
            <a:ext cx="182880" cy="0"/>
          </a:xfrm>
          <a:prstGeom prst="line">
            <a:avLst/>
          </a:prstGeom>
          <a:noFill/>
          <a:ln w="12700">
            <a:solidFill>
              <a:srgbClr val="9AA6BC">
                <a:alpha val="7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flipV="1">
            <a:off x="2377440" y="4480560"/>
            <a:ext cx="914400" cy="868680"/>
          </a:xfrm>
          <a:prstGeom prst="line">
            <a:avLst/>
          </a:prstGeom>
          <a:noFill/>
          <a:ln w="12700">
            <a:solidFill>
              <a:srgbClr val="9AA6BC">
                <a:alpha val="7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91840" y="4480560"/>
            <a:ext cx="1188720" cy="868680"/>
          </a:xfrm>
          <a:prstGeom prst="line">
            <a:avLst/>
          </a:prstGeom>
          <a:noFill/>
          <a:ln w="12700">
            <a:solidFill>
              <a:srgbClr val="9AA6BC">
                <a:alpha val="7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3767328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7724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rows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2514600" y="3767328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D4B26A">
              <a:alpha val="18000"/>
            </a:srgbClr>
          </a:solidFill>
          <a:ln w="9525">
            <a:solidFill>
              <a:srgbClr val="D4B26A">
                <a:alpha val="7000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251460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251460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 rows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251960" y="3767328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25196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rooms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425196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rows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1600200" y="5349240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600200" y="5440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1600200" y="5742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25,000 rows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3703320" y="5349240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3703320" y="5440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3703320" y="5742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15,000 rows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21792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217920" y="3291840"/>
            <a:ext cx="5422392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446520" y="3776472"/>
            <a:ext cx="384048" cy="384048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446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7040880" y="374904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04088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review and pivot table summaries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6446520" y="4379976"/>
            <a:ext cx="384048" cy="384048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644652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5"/>
          <p:cNvSpPr txBox="1"/>
          <p:nvPr/>
        </p:nvSpPr>
        <p:spPr>
          <a:xfrm>
            <a:off x="7040880" y="435254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7040880" y="4599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build, quality checks and analysis</a:t>
            </a:r>
            <a:endParaRPr lang="en-US" sz="1150" dirty="0"/>
          </a:p>
        </p:txBody>
      </p:sp>
      <p:sp>
        <p:nvSpPr>
          <p:cNvPr id="53" name="Shape 47"/>
          <p:cNvSpPr/>
          <p:nvPr/>
        </p:nvSpPr>
        <p:spPr>
          <a:xfrm>
            <a:off x="6446520" y="4983480"/>
            <a:ext cx="384048" cy="384048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644652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49"/>
          <p:cNvSpPr txBox="1"/>
          <p:nvPr/>
        </p:nvSpPr>
        <p:spPr>
          <a:xfrm>
            <a:off x="7040880" y="495604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7040880" y="520293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Cleaning, analysis and exploratory charts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6446520" y="5586984"/>
            <a:ext cx="384048" cy="384048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46520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7040880" y="555955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300" dirty="0"/>
          </a:p>
        </p:txBody>
      </p:sp>
      <p:sp>
        <p:nvSpPr>
          <p:cNvPr id="60" name="Text 54"/>
          <p:cNvSpPr txBox="1"/>
          <p:nvPr/>
        </p:nvSpPr>
        <p:spPr>
          <a:xfrm>
            <a:off x="7040880" y="5806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 for decision makers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TOOLKIT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What Each One Did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tool played a different role in the analysis journey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4526280"/>
          </a:xfrm>
          <a:prstGeom prst="roundRect">
            <a:avLst>
              <a:gd name="adj" fmla="val 35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D4B26A">
              <a:alpha val="12000"/>
            </a:srgbClr>
          </a:solidFill>
          <a:ln w="12700">
            <a:solidFill>
              <a:srgbClr val="D4B26A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REVIEW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3474720"/>
            <a:ext cx="21488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61188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data sheets: bookings, guests, rooms, payments, reviews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 tables for KPIs: 192.2M revenue, 20K bookings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 split, revenue by year, top countries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guests by spending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64992" y="1691640"/>
            <a:ext cx="2606040" cy="4526280"/>
          </a:xfrm>
          <a:prstGeom prst="roundRect">
            <a:avLst>
              <a:gd name="adj" fmla="val 35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93592" y="1920240"/>
            <a:ext cx="640080" cy="640080"/>
          </a:xfrm>
          <a:prstGeom prst="ellipse">
            <a:avLst/>
          </a:prstGeom>
          <a:solidFill>
            <a:srgbClr val="D4B26A">
              <a:alpha val="12000"/>
            </a:srgbClr>
          </a:solidFill>
          <a:ln w="12700">
            <a:solidFill>
              <a:srgbClr val="D4B26A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574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9359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593592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93592" y="3474720"/>
            <a:ext cx="21488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593592" y="361188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hotel database: 5 tables with primary keys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INSERT to load the CSV files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foreign keys linking the tables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quality checks and 10 analytical queries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81344" y="1691640"/>
            <a:ext cx="2606040" cy="4526280"/>
          </a:xfrm>
          <a:prstGeom prst="roundRect">
            <a:avLst>
              <a:gd name="adj" fmla="val 35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9944" y="1920240"/>
            <a:ext cx="640080" cy="640080"/>
          </a:xfrm>
          <a:prstGeom prst="ellipse">
            <a:avLst/>
          </a:prstGeom>
          <a:solidFill>
            <a:srgbClr val="D4B26A">
              <a:alpha val="12000"/>
            </a:srgbClr>
          </a:solidFill>
          <a:ln w="12700">
            <a:solidFill>
              <a:srgbClr val="D4B26A">
                <a:alpha val="6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0574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09944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409944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AND ANALYSIS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9944" y="3474720"/>
            <a:ext cx="21488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409944" y="361188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5 CSV files into Pandas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duplicates and missing values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with groupby and merge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charts with Matplotlib and Seaborn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997696" y="1691640"/>
            <a:ext cx="2606040" cy="4526280"/>
          </a:xfrm>
          <a:prstGeom prst="roundRect">
            <a:avLst>
              <a:gd name="adj" fmla="val 35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226296" y="1920240"/>
            <a:ext cx="640080" cy="640080"/>
          </a:xfrm>
          <a:prstGeom prst="ellipse">
            <a:avLst/>
          </a:prstGeom>
          <a:solidFill>
            <a:srgbClr val="D4B26A">
              <a:alpha val="12000"/>
            </a:srgbClr>
          </a:solidFill>
          <a:ln w="12700">
            <a:solidFill>
              <a:srgbClr val="D4B26A">
                <a:alpha val="6000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205740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226296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9226296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226296" y="3474720"/>
            <a:ext cx="21488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226296" y="361188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many-to-one relationships in the data model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calculated columns and 8 DAX measures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page plus 2 report pages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cards, charts and slicers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Server: Build, Validate, Analyze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scripts: table creation, analytical queries and data quality checks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93592" cy="3429000"/>
          </a:xfrm>
          <a:prstGeom prst="roundRect">
            <a:avLst>
              <a:gd name="adj" fmla="val 2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013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4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BUILD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tables with suitable data types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primary key on every table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INSERT to load the CSV files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foreign keys keep relationships valid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check via INFORMATION_SCHEMA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93592" cy="3429000"/>
          </a:xfrm>
          <a:prstGeom prst="roundRect">
            <a:avLst>
              <a:gd name="adj" fmla="val 2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8013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4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965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CHECKS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8346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guest IDs and NULLs in bookings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Check-out dates before check-in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num_nights vs. the date difference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date after check-in date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 outside 1 to 5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 above room capacity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Orphan keys across 4 relationships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93592" cy="3429000"/>
          </a:xfrm>
          <a:prstGeom prst="roundRect">
            <a:avLst>
              <a:gd name="adj" fmla="val 26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21040" y="18013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9659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QUERIES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8346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revenue, bookings, average booking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 trend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room types by revenue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performance and cancellation rate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guests and top 10 countries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guests using a CTE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 growth using LAG()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3035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D4B26A">
              <a:alpha val="16000"/>
            </a:srgbClr>
          </a:solidFill>
          <a:ln w="15875">
            <a:solidFill>
              <a:srgbClr val="D4B26A">
                <a:alpha val="8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778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53035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7,329</a:t>
            </a:r>
            <a:endParaRPr lang="en-US" sz="3400" dirty="0"/>
          </a:p>
        </p:txBody>
      </p:sp>
      <p:sp>
        <p:nvSpPr>
          <p:cNvPr id="24" name="Text 18"/>
          <p:cNvSpPr txBox="1"/>
          <p:nvPr/>
        </p:nvSpPr>
        <p:spPr>
          <a:xfrm>
            <a:off x="3154680" y="53035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36.6%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5349240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duplicates, NULLs or invalid dates. But 7,329 bookings (36.6%) list more guests than the room's maximum occupancy. This must be reviewed before any occupancy analysis.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Loading and Preparing Data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Pandas, NumPy, Matplotlib and Seaborn, working in Google Colab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760720" cy="3520440"/>
          </a:xfrm>
          <a:prstGeom prst="roundRect">
            <a:avLst>
              <a:gd name="adj" fmla="val 2597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D4B26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56232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" y="1856232"/>
            <a:ext cx="118872" cy="118872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1856232"/>
            <a:ext cx="118872" cy="118872"/>
          </a:xfrm>
          <a:prstGeom prst="ellipse">
            <a:avLst/>
          </a:prstGeom>
          <a:solidFill>
            <a:srgbClr val="5BD0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2880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|  Google Colab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4028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 = pd.read_csv("/content/bookings.csv",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sep=";")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bookings.shape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bookings.info()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bookings.describe()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bookings.isna().sum()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bookings.duplicated().sum()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bookings["booking_date"] = pd.to_datetime(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bookings["booking_date"], dayfirst=True)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1691640"/>
            <a:ext cx="5102352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847088"/>
            <a:ext cx="329184" cy="329184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74650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the data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5 CSV files (sep=";") in Google Colab: bookings, guests, payments, reviews, rooms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404872"/>
            <a:ext cx="5102352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560320"/>
            <a:ext cx="329184" cy="329184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4597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look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head(), shape, info(), columns and dtypes for every 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118104"/>
            <a:ext cx="5102352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273552"/>
            <a:ext cx="329184" cy="329184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1729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statistics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describe() on each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831336"/>
            <a:ext cx="5102352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986784"/>
            <a:ext cx="329184" cy="329184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886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checks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isna().sum() and duplicated().sum() on each table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4544568"/>
            <a:ext cx="5102352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4700016"/>
            <a:ext cx="329184" cy="329184"/>
          </a:xfrm>
          <a:prstGeom prst="ellipse">
            <a:avLst/>
          </a:prstGeom>
          <a:solidFill>
            <a:srgbClr val="D4B26A">
              <a:alpha val="15000"/>
            </a:srgbClr>
          </a:solidFill>
          <a:ln w="12700">
            <a:solidFill>
              <a:srgbClr val="D4B26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5994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conversion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pd.to_datetime(dayfirst=True) on booking_date, then group by year and month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D4B26A">
              <a:alpha val="14000"/>
            </a:srgbClr>
          </a:solidFill>
          <a:ln w="9525">
            <a:solidFill>
              <a:srgbClr val="D4B26A">
                <a:alpha val="70000"/>
              </a:srgbClr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96128"/>
            <a:ext cx="457200" cy="45720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463040" y="5394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</a:t>
            </a:r>
            <a:pPr indent="0" marL="0">
              <a:buNone/>
            </a:pPr>
            <a:r>
              <a:rPr lang="en-US" sz="18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missing values and 0 duplicate rows in all 5 tables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ANALYSIS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Analysis and Results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analysis areas, with results computed from the same 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48256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3444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15468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· mean() · groupby(year, month)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192.2M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192.2M, average booking 9.6K, peak month Oct 2023 (19.7M)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2542032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7004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34440" y="25420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3154680" y="25420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 · groupby(status) · groupby(year)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897880" y="25420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20K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0" y="25420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20K bookings; 2024 is the highest year with 9,350; the five statuses are about equal (~4K each)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3163824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9184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34440" y="31638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154680" y="3163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groupby(channel) → (status == "Cancelled").mean()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5897880" y="31638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20.2%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7315200" y="3163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rate 20.2%; highest Travel Agent (21.4%), lowest Walk-in (19.6%)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3785616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913632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234440" y="37856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3154680" y="37856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merge(rooms, bookings) → groupby(room_type)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897880" y="37856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45.4M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7315200" y="37856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Deluxe is highest at 45.4M (4,792 bookings); Double is lowest at 31.1M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48640" y="4407408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535424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234440" y="4407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channels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3154680" y="4407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groupby(booking_channel) → count, sum, mean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5897880" y="4407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32.8M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7315200" y="4407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is highest at 32.8M; channels are close (31.4M to 32.8M)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157216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23444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315468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merge(guests, bookings) → groupby(guest_id)</a:t>
            </a:r>
            <a:endParaRPr lang="en-US" sz="1050" dirty="0"/>
          </a:p>
        </p:txBody>
      </p:sp>
      <p:sp>
        <p:nvSpPr>
          <p:cNvPr id="45" name="Text 37"/>
          <p:cNvSpPr txBox="1"/>
          <p:nvPr/>
        </p:nvSpPr>
        <p:spPr>
          <a:xfrm>
            <a:off x="5897880" y="5029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≈159K</a:t>
            </a:r>
            <a:endParaRPr lang="en-US" sz="2000" dirty="0"/>
          </a:p>
        </p:txBody>
      </p:sp>
      <p:sp>
        <p:nvSpPr>
          <p:cNvPr id="46" name="Text 38"/>
          <p:cNvSpPr txBox="1"/>
          <p:nvPr/>
        </p:nvSpPr>
        <p:spPr>
          <a:xfrm>
            <a:off x="7315200" y="5029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guest ≈ 159K; average spend per guest ≈ 39K; top country Korea (40 guests)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548640" y="5650992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779008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234440" y="5650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3154680" y="5650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bookings.corr(numeric_only=True) + heatmap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5897880" y="5650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</a:t>
            </a:r>
            <a:endParaRPr lang="en-US" sz="2000" dirty="0"/>
          </a:p>
        </p:txBody>
      </p:sp>
      <p:sp>
        <p:nvSpPr>
          <p:cNvPr id="52" name="Text 43"/>
          <p:cNvSpPr txBox="1"/>
          <p:nvPr/>
        </p:nvSpPr>
        <p:spPr>
          <a:xfrm>
            <a:off x="7315200" y="5650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strong correlation: num_nights with total_amount = 0.74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VISUALIZATIONS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Visualizations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charts built with Matplotlib and Seaborn; three of them are shown here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93592" cy="4526280"/>
          </a:xfrm>
          <a:prstGeom prst="roundRect">
            <a:avLst>
              <a:gd name="adj" fmla="val 254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room type (M)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07492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Deluxe and Suite lead; Double is the lowest at 31.1M.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93592" cy="4526280"/>
          </a:xfrm>
          <a:prstGeom prst="roundRect">
            <a:avLst>
              <a:gd name="adj" fmla="val 254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82880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 rate by channel (%)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507492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are close: from 19.6% (Walk-in, Booking.com) to 21.4% (Travel Agent).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93592" cy="4526280"/>
          </a:xfrm>
          <a:prstGeom prst="roundRect">
            <a:avLst>
              <a:gd name="adj" fmla="val 254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82880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 by booking date (M)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507492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in Oct 2023 (19.7M), then a steady fall. By check-in date revenue is steadier: 64.8M in 2024 and 63.3M in 2025.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" y="2377440"/>
          <a:ext cx="3429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389120" y="2377440"/>
          <a:ext cx="3429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Chart 2" descr=""/>
          <p:cNvGraphicFramePr/>
          <p:nvPr/>
        </p:nvGraphicFramePr>
        <p:xfrm>
          <a:off x="8138160" y="2377440"/>
          <a:ext cx="3429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91440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2023: 19.7M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relationship diagram: one fact table, two dimensions and two child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4526280"/>
          </a:xfrm>
          <a:prstGeom prst="roundRect">
            <a:avLst>
              <a:gd name="adj" fmla="val 202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2971800"/>
            <a:ext cx="640080" cy="0"/>
          </a:xfrm>
          <a:prstGeom prst="line">
            <a:avLst/>
          </a:prstGeom>
          <a:noFill/>
          <a:ln w="15875">
            <a:solidFill>
              <a:srgbClr val="D4B26A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2971800"/>
            <a:ext cx="640080" cy="0"/>
          </a:xfrm>
          <a:prstGeom prst="line">
            <a:avLst/>
          </a:prstGeom>
          <a:noFill/>
          <a:ln w="15875">
            <a:solidFill>
              <a:srgbClr val="D4B26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377440" y="3456432"/>
            <a:ext cx="1508760" cy="1069848"/>
          </a:xfrm>
          <a:prstGeom prst="line">
            <a:avLst/>
          </a:prstGeom>
          <a:noFill/>
          <a:ln w="15875">
            <a:solidFill>
              <a:srgbClr val="D4B26A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3456432"/>
            <a:ext cx="1508760" cy="1069848"/>
          </a:xfrm>
          <a:prstGeom prst="line">
            <a:avLst/>
          </a:prstGeom>
          <a:noFill/>
          <a:ln w="15875">
            <a:solidFill>
              <a:srgbClr val="D4B26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2743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743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743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43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42316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" y="2514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2734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rows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242316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D4B26A">
              <a:alpha val="18000"/>
            </a:srgbClr>
          </a:solidFill>
          <a:ln w="15875">
            <a:solidFill>
              <a:srgbClr val="D4B26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44952" y="2514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044952" y="2734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044952" y="3118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 rows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242316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2514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96712" y="2734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696712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rows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43000" y="452628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07592" y="4617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307592" y="4837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07592" y="5221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25,000 rows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452628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16552" y="4617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B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416552" y="4837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416552" y="5221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15,000 rows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1874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Relationships: 4 many-to-one (1 → *)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0" y="1691640"/>
            <a:ext cx="4142232" cy="4526280"/>
          </a:xfrm>
          <a:prstGeom prst="roundRect">
            <a:avLst>
              <a:gd name="adj" fmla="val 2208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26680" y="182880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 table: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 holds every booking detail.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 and rooms.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tables: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and reviews, linked to each booking.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many-to-one, filtering from the one side to the many side.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columns: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Age Group, lead_time, stay_category.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DAX measures: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total_booking_value, total_bookings, total_guests, total_rooms, avg_booking_value, avg_room_price, avg_rating, cancellation_rate.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26680" y="5120640"/>
            <a:ext cx="3703320" cy="0"/>
          </a:xfrm>
          <a:prstGeom prst="line">
            <a:avLst/>
          </a:prstGeom>
          <a:noFill/>
          <a:ln w="9525">
            <a:solidFill>
              <a:srgbClr val="D4B26A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26680" y="52120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</a:t>
            </a:r>
            <a:pPr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filter on country, room type or channel flows through every visual.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BI: Overview Page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picture of hotel performance</a:t>
            </a:r>
            <a:endParaRPr lang="en-US" sz="1400" dirty="0"/>
          </a:p>
        </p:txBody>
      </p:sp>
      <p:pic>
        <p:nvPicPr>
          <p:cNvPr id="6" name="Image 0" descr="pb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583680" cy="3685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91640"/>
            <a:ext cx="6583680" cy="3685032"/>
          </a:xfrm>
          <a:prstGeom prst="rect">
            <a:avLst/>
          </a:prstGeom>
          <a:ln w="9525">
            <a:solidFill>
              <a:srgbClr val="D4B26A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4864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D4B26A">
              <a:alpha val="14000"/>
            </a:srgbClr>
          </a:solidFill>
          <a:ln w="9525">
            <a:solidFill>
              <a:srgbClr val="D4B26A">
                <a:alpha val="7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486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booking date, revenue falls after 2024. By check-in date, 2025 = 63.3M, so read both views before judging performance.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1691640"/>
            <a:ext cx="4325112" cy="4572000"/>
          </a:xfrm>
          <a:prstGeom prst="roundRect">
            <a:avLst>
              <a:gd name="adj" fmla="val 211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82128" y="1783080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cards (5)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192M, guests 5K, bookings 20K, rooms 100 and average room price 1.83K.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498080" y="2390503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481943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82128" y="2436223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bookings by year (line)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peaks in 2024 at 90M (9.4K bookings), then declines.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498080" y="3043646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13508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882128" y="3089366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 rate by channel (bar)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(29.2%) and Website (28.6%) are highest.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498080" y="3696789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788229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82128" y="3742509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 by country (map)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where guests come from, to target campaigns.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498080" y="4349931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4441371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882128" y="4395651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 split (donut)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Balanced: 2.5K female and 2.5K male (about 50% each).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7498080" y="5003074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5094514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882128" y="5048794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rating by room type (bar)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room types are close to 3.0 (2.97 to 3.02).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7498080" y="5656217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5747657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882128" y="5701937"/>
            <a:ext cx="365760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 (date, channel, room type)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 any period, channel or room type; every visual updates.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DETAILS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BI: Revenue and Details Page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channel, room type, stay duration and age group</a:t>
            </a:r>
            <a:endParaRPr lang="en-US" sz="1400" dirty="0"/>
          </a:p>
        </p:txBody>
      </p:sp>
      <p:pic>
        <p:nvPicPr>
          <p:cNvPr id="6" name="Image 0" descr="pb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583680" cy="3685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91640"/>
            <a:ext cx="6583680" cy="3685032"/>
          </a:xfrm>
          <a:prstGeom prst="rect">
            <a:avLst/>
          </a:prstGeom>
          <a:ln w="9525">
            <a:solidFill>
              <a:srgbClr val="D4B26A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4864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D4B26A">
              <a:alpha val="14000"/>
            </a:srgbClr>
          </a:solidFill>
          <a:ln w="9525">
            <a:solidFill>
              <a:srgbClr val="D4B26A">
                <a:alpha val="7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486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spread evenly across channels (31.4M to 32.8M) and room types, so there is no dependence on a single channel. A healthy sign.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1691640"/>
            <a:ext cx="4325112" cy="4572000"/>
          </a:xfrm>
          <a:prstGeom prst="roundRect">
            <a:avLst>
              <a:gd name="adj" fmla="val 211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82128" y="17830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channel and status (columns)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revenue at risk from cancellations and no-shows.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498080" y="23088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40030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82128" y="23545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room type (bar)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Deluxe leads with 45M; Double is lowest at 31M.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498080" y="28803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97180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882128" y="29260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 by stay duration (column)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stays 10K, medium 6K, short 4K (about 50%, 30%, 20%).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498080" y="34518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54330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82128" y="34975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by channel (matrix)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the best combinations for pricing and distribution.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498080" y="40233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411480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882128" y="40690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booking status (donut)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statuses, each about 19.4% to 20.8% of revenue.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7498080" y="45948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4686300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882128" y="46405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channel distribution (bar)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9.8K down to Phone 9.5K: very balanced.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7498080" y="51663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5257800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882128" y="52120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Guests by age group (bar)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group is 46 to 60 years old (1,435 guests).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7498080" y="5737860"/>
            <a:ext cx="3959352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5829300"/>
            <a:ext cx="256032" cy="25603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882128" y="5783580"/>
            <a:ext cx="3657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price vs capacity (scatter)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link is weak (correlation 0.18).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INSIGHTS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BI: Business Insights Page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performance + revenue intelligence + decision support</a:t>
            </a:r>
            <a:endParaRPr lang="en-US" sz="1400" dirty="0"/>
          </a:p>
        </p:txBody>
      </p:sp>
      <p:pic>
        <p:nvPicPr>
          <p:cNvPr id="6" name="Image 0" descr="pbi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58368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91640"/>
            <a:ext cx="6583680" cy="3703320"/>
          </a:xfrm>
          <a:prstGeom prst="rect">
            <a:avLst/>
          </a:prstGeom>
          <a:ln w="9525">
            <a:solidFill>
              <a:srgbClr val="D4B26A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4864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D4B26A">
              <a:alpha val="14000"/>
            </a:srgbClr>
          </a:solidFill>
          <a:ln w="9525">
            <a:solidFill>
              <a:srgbClr val="D4B26A">
                <a:alpha val="7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486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</a:t>
            </a:r>
            <a:pPr indent="0" marL="0">
              <a:buNone/>
            </a:pPr>
            <a:r>
              <a:rPr lang="en-US" sz="115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reducing cancellations from Phone and Website channels while maintaining the strong revenue contribution from Deluxe rooms.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1691640"/>
            <a:ext cx="4325112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874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1874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&amp; PERFORMANCE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543800" y="233172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peaked in 2024 at approximately 90M.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Booking.com generated the highest total revenue.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Deluxe rooms generated the highest revenue at approximately 45M.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0" y="4023360"/>
            <a:ext cx="4325112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2062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55280" y="4206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&amp; BOOKING BEHAVIOR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7543800" y="466344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and Website bookings had the highest cancellation rates.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stays account for the largest share of bookings.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volume is relatively balanced across channels.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1691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 and Recommendations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analysis shows and what to do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93592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39.9%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bookings are Cancelled or No-Show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93592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76.6M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the 192.2M total sits in those bookings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93592" cy="1463040"/>
          </a:xfrm>
          <a:prstGeom prst="roundRect">
            <a:avLst>
              <a:gd name="adj" fmla="val 6250"/>
            </a:avLst>
          </a:prstGeom>
          <a:solidFill>
            <a:srgbClr val="D4B26A">
              <a:alpha val="16000"/>
            </a:srgbClr>
          </a:solidFill>
          <a:ln w="15875">
            <a:solidFill>
              <a:srgbClr val="D4B26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115.6M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revenue after excluding them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204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430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drop in 2025 and 2026 comes from booking dates: by check-in date, revenue is 63.3M and 44.4M.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7,329 bookings (36.6%) list more guests than room capacity: a data quality issue.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9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is balanced across channels and rooms; Deluxe and Suite lead; the average rating is 3.0 out of 5.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3832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617720" y="3749040"/>
            <a:ext cx="3456432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0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5166360" y="37490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"effective revenue" in Power BI: exclude Cancelled and No-Show.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229600" y="3749040"/>
            <a:ext cx="3456432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66760" y="374904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37490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seasonality by check_in_date as well as booking date.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17720" y="4590288"/>
            <a:ext cx="3456432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754880" y="4590288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5166360" y="45902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room capacity rules before relying on occupancy analysis.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229600" y="4590288"/>
            <a:ext cx="3456432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366760" y="4590288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28"/>
          <p:cNvSpPr txBox="1"/>
          <p:nvPr/>
        </p:nvSpPr>
        <p:spPr>
          <a:xfrm>
            <a:off x="8778240" y="45902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 cancellations with advance deposits, especially for Travel Agent (21.4%).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617720" y="5431536"/>
            <a:ext cx="3456432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54880" y="5431536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5166360" y="5431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loyalty programs for top guests.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8229600" y="5431536"/>
            <a:ext cx="3456432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366760" y="5431536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B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4"/>
          <p:cNvSpPr txBox="1"/>
          <p:nvPr/>
        </p:nvSpPr>
        <p:spPr>
          <a:xfrm>
            <a:off x="8778240" y="5431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top guests by guest_id in Power BI, not by name (top guest: Angela Green, 159K).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4B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tel Analytics">
  <a:themeElements>
    <a:clrScheme name="Hotel Analytics">
      <a:dk1>
        <a:srgbClr val="0B1426"/>
      </a:dk1>
      <a:lt1>
        <a:srgbClr val="F5F2EA"/>
      </a:lt1>
      <a:dk2>
        <a:srgbClr val="111C33"/>
      </a:dk2>
      <a:lt2>
        <a:srgbClr val="FFFFFF"/>
      </a:lt2>
      <a:accent1>
        <a:srgbClr val="D4B26A"/>
      </a:accent1>
      <a:accent2>
        <a:srgbClr val="4FB0C6"/>
      </a:accent2>
      <a:accent3>
        <a:srgbClr val="5B7197"/>
      </a:accent3>
      <a:accent4>
        <a:srgbClr val="9AA6BC"/>
      </a:accent4>
      <a:accent5>
        <a:srgbClr val="8FA3C7"/>
      </a:accent5>
      <a:accent6>
        <a:srgbClr val="E8D8B0"/>
      </a:accent6>
      <a:hlink>
        <a:srgbClr val="D4B26A"/>
      </a:hlink>
      <a:folHlink>
        <a:srgbClr val="9AA6BC"/>
      </a:folHlink>
    </a:clrScheme>
    <a:fontScheme name="Hotel Analytics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Analytics</dc:title>
  <dc:subject>PptxGenJS Presentation</dc:subject>
  <dc:creator>Mohamed Fathy</dc:creator>
  <cp:lastModifiedBy>Mohamed Fathy</cp:lastModifiedBy>
  <cp:revision>1</cp:revision>
  <dcterms:created xsi:type="dcterms:W3CDTF">2026-10-06T12:16:40Z</dcterms:created>
  <dcterms:modified xsi:type="dcterms:W3CDTF">2026-10-06T12:16:40Z</dcterms:modified>
</cp:coreProperties>
</file>